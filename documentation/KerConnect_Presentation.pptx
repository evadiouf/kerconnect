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-457200"/>
            <a:ext cx="3657600" cy="3657600"/>
          </a:xfrm>
          <a:prstGeom prst="rect">
            <a:avLst/>
          </a:prstGeom>
          <a:solidFill>
            <a:srgbClr val="504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457200" y="3657600"/>
            <a:ext cx="2743200" cy="2743200"/>
          </a:xfrm>
          <a:prstGeom prst="rect">
            <a:avLst/>
          </a:prstGeom>
          <a:solidFill>
            <a:srgbClr val="504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4648" y="73152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8229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05C52"/>
                </a:solidFill>
              </a:rPr>
              <a:t>KC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KerConnect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DDFF"/>
                </a:solidFill>
              </a:rPr>
              <a:t>Plateforme Immobilière Sénégalaise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FF"/>
                </a:solidFill>
              </a:rPr>
              <a:t>Naratechvision  •  contact@naratechvision.com  •  Juin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663440"/>
            <a:ext cx="4873752" cy="4572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5486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548640" cy="10058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00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</a:rPr>
              <a:t>Le Problème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057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</a:rPr>
              <a:t>Le marché immobilier sénégalais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5486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548640" cy="10058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600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</a:rPr>
              <a:t>La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057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</a:rPr>
              <a:t>KerConnect — concept et valeur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43200"/>
            <a:ext cx="5486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548640" cy="10058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788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</a:rPr>
              <a:t>Les Profils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246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</a:rPr>
              <a:t>4 types d'utilisateurs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743200"/>
            <a:ext cx="5486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743200"/>
            <a:ext cx="548640" cy="10058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788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</a:rPr>
              <a:t>Fonctionnalités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46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</a:rPr>
              <a:t>Tour de la plateforme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5486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931920"/>
            <a:ext cx="548640" cy="10058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9776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</a:rPr>
              <a:t>Flux Contrat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434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</a:rPr>
              <a:t>De la demande au paiement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931920"/>
            <a:ext cx="5486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931920"/>
            <a:ext cx="548640" cy="10058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9776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</a:rPr>
              <a:t>Modèle Économique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434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</a:rPr>
              <a:t>Commission + revenus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0640"/>
            <a:ext cx="5486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5120640"/>
            <a:ext cx="548640" cy="10058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349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166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</a:rPr>
              <a:t>Stack Technique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623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</a:rPr>
              <a:t>Technologies utilisées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120640"/>
            <a:ext cx="5486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5120640"/>
            <a:ext cx="548640" cy="10058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349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166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</a:rPr>
              <a:t>Roadmap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623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</a:rPr>
              <a:t>Phases de développement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FF"/>
                </a:solidFill>
              </a:rPr>
              <a:t>Le marché immobilier sénégalais souffre de...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A44"/>
                </a:solidFill>
              </a:rP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Manque de
transparence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Offres invérifiées, prix
non standardisés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463040"/>
            <a:ext cx="2651760" cy="2286000"/>
          </a:xfrm>
          <a:prstGeom prst="rect">
            <a:avLst/>
          </a:prstGeom>
          <a:solidFill>
            <a:srgbClr val="FFF0F0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A44"/>
                </a:solidFill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Faux contrats
et litiges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514600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Pas de traçabilité,
accords informels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A44"/>
                </a:solidFill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Accès difficile
aux offres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14600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Bouche-à-oreille,
pas de catalogue central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463040"/>
            <a:ext cx="2651760" cy="2286000"/>
          </a:xfrm>
          <a:prstGeom prst="rect">
            <a:avLst/>
          </a:prstGeom>
          <a:solidFill>
            <a:srgbClr val="FFF0F0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A44"/>
                </a:solidFill>
              </a:rPr>
              <a:t>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Paiements non
tracés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514600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Espèces sans reçu,
impossible à contester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23360"/>
            <a:ext cx="11274552" cy="54864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06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338CA"/>
                </a:solidFill>
              </a:rPr>
              <a:t>→  KerConnect digitalise et sécurise l'ensemble du parcours immobilier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La Solution KerConnect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FF"/>
                </a:solidFill>
              </a:rPr>
              <a:t>Une plateforme 100% en ligne, du bien au paiement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F2A44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Annonces vérifiées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Validation admin avant publication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F2A44"/>
                </a:solidFill>
              </a:rP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Contrat numérique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Upload PDF + signature manuscrite +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805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F2A44"/>
                </a:solidFill>
              </a:rPr>
              <a:t>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976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Paiements tracés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548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Wave, Orange Money, espèces avec reçu PDF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46304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F2A44"/>
                </a:solidFill>
              </a:rPr>
              <a:t>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Score de confiance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Notes 1-5 étoiles + badge Vérifié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83464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F2A44"/>
                </a:solidFill>
              </a:rPr>
              <a:t>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Alertes automatiques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Notification sur critères personnalisés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20624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4805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F2A44"/>
                </a:solidFill>
              </a:rP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2976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Commission auto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7548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5% prélevé sur chaque paiement confirmé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Les 4 Profils Utilisateurs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27432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2743200" cy="7315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Recherche biens à louer/acheter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715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Fait des demandes en ligne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23697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Signe les contrats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758183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Paie via Wave/OM/espèces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2793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Note le bailleur après le contrat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371600"/>
            <a:ext cx="27432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1371600"/>
            <a:ext cx="27432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Bailleur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Publie des annonces (3 étapes)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715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Gère les demandes reçues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23697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Envoie le contrat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758183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Confirme les paiements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2793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Consulte son rapport mensuel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371600"/>
            <a:ext cx="27432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1371600"/>
            <a:ext cx="274320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Propriétaire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Vend des biens immobiliers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715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Mêmes capacités que bailleur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23697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Interface partagée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758183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Contrats de vente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2793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Suivi des acheteurs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1371600"/>
            <a:ext cx="27432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60" y="1371600"/>
            <a:ext cx="274320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Admin (Hawoly)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Valide les annonces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7157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Gère les utilisateurs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323697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Configure la commission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758183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Consulte les transactions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42793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• Voit les revenus plateforme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Fonctionnalités Principales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087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A44"/>
                </a:solidFill>
              </a:rPr>
              <a:t>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Publication annonce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3 étapes + upload photos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05C52"/>
                </a:solidFill>
              </a:rPr>
              <a:t>Validation admin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46304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5087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A44"/>
                </a:solidFill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Catalogue biens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Filtres ville/budget/type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05C52"/>
                </a:solidFill>
              </a:rPr>
              <a:t>Location &amp; Vente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6304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5087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A44"/>
                </a:solidFill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Gestion demandes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Accepter/Refuser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05C52"/>
                </a:solidFill>
              </a:rPr>
              <a:t>Messaging intégré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46304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5087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A44"/>
                </a:solidFill>
              </a:rPr>
              <a:t>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Contrat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Upload + Signature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05C52"/>
                </a:solidFill>
              </a:rPr>
              <a:t>Validation bailleur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3192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9776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A44"/>
                </a:solidFill>
              </a:rPr>
              <a:t>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617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Paiement multi-mode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Wave/OM/Carte/Espèces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05C52"/>
                </a:solidFill>
              </a:rPr>
              <a:t>Reçu PDF auto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93192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776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A44"/>
                </a:solidFill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617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Rapport mensuel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Revenus par mois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05C52"/>
                </a:solidFill>
              </a:rPr>
              <a:t>Export PDF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93192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9776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A44"/>
                </a:solidFill>
              </a:rPr>
              <a:t>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617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Score confiance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Notes 1-5 étoiles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05C52"/>
                </a:solidFill>
              </a:rPr>
              <a:t>Badge Vérifié admin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393192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39776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A44"/>
                </a:solidFill>
              </a:rPr>
              <a:t>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617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Alertes &amp; Notifs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Polling 30 secondes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05C52"/>
                </a:solidFill>
              </a:rPr>
              <a:t>Email automatique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Flux Contrat — De la Demande au Paiement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463040" cy="14630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Client fait
une demande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338C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554480"/>
            <a:ext cx="146304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160020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2402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Bailleur
accepte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338C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1554480"/>
            <a:ext cx="1463040" cy="146304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160020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2402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Bailleur envoie
le PDF contrat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338C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1554480"/>
            <a:ext cx="1463040" cy="14630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160020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✍️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2402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Client signe et
renvoie le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338CA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1554480"/>
            <a:ext cx="146304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160020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2402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Bailleur valide
la signature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338CA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1554480"/>
            <a:ext cx="1463040" cy="146304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160020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2402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Client paie
(Wave/Espèces)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338CA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32720" y="1554480"/>
            <a:ext cx="146304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0" y="160020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22402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Commission
prélevée 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20040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2461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2A44"/>
                </a:solidFill>
              </a:rPr>
              <a:t>Demande
soumise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48839" y="320040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48839" y="32461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2A44"/>
                </a:solidFill>
              </a:rPr>
              <a:t>Contrat auto
créé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94759" y="320040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4759" y="32461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2A44"/>
                </a:solidFill>
              </a:rPr>
              <a:t>Email envoyé
au client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320040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32461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2A44"/>
                </a:solidFill>
              </a:rPr>
              <a:t>Reçu après
upload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320040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32461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2A44"/>
                </a:solidFill>
              </a:rPr>
              <a:t>Statut:
valide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32520" y="320040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32520" y="32461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2A44"/>
                </a:solidFill>
              </a:rPr>
              <a:t>Reçu PDF
automatique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78440" y="3200400"/>
            <a:ext cx="1371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78440" y="32461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2A44"/>
                </a:solidFill>
              </a:rPr>
              <a:t>Net bailleur
enregistré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206240"/>
            <a:ext cx="11430000" cy="54864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4389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Email automatique envoyé après chaque étape clé  •  Notifications temps réel dans la cloche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Paiements Multi-Mode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FF"/>
                </a:solidFill>
              </a:rPr>
              <a:t>Sécurisés, tracés, avec reçu PDF automatique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8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21031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210312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48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Wave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A44"/>
                </a:solidFill>
              </a:rPr>
              <a:t>Paiement instantané
Mobile 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10B981"/>
                </a:solidFill>
              </a:rPr>
              <a:t>Auto (PayDunya)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554480"/>
            <a:ext cx="21031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1554480"/>
            <a:ext cx="210312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57276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148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Orange Money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A44"/>
                </a:solidFill>
              </a:rPr>
              <a:t>Réseau Orange
très répandu au Sénégal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74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10B981"/>
                </a:solidFill>
              </a:rPr>
              <a:t>Auto (PayDunya)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554480"/>
            <a:ext cx="21031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1554480"/>
            <a:ext cx="210312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157276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148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Carte bancaire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A44"/>
                </a:solidFill>
              </a:rPr>
              <a:t>Visa / Mastercard
via PayDunya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474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10B981"/>
                </a:solidFill>
              </a:rPr>
              <a:t>Auto (PayDunya)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1554480"/>
            <a:ext cx="21031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1554480"/>
            <a:ext cx="210312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57276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2148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5C52"/>
                </a:solidFill>
              </a:rPr>
              <a:t>Espèces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A44"/>
                </a:solidFill>
              </a:rPr>
              <a:t>Remise en main propre
Confirmation bailleur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474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E05C52"/>
                </a:solidFill>
              </a:rPr>
              <a:t>Manuel (bailleur)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1554480"/>
            <a:ext cx="21031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554480"/>
            <a:ext cx="210312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157276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148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5C52"/>
                </a:solidFill>
              </a:rPr>
              <a:t>Chèque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2A44"/>
                </a:solidFill>
              </a:rPr>
              <a:t>Chèque bancaire
Confirmation bailleur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474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E05C52"/>
                </a:solidFill>
              </a:rPr>
              <a:t>Manuel (bailleur)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572000"/>
            <a:ext cx="11430000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5C52"/>
                </a:solidFill>
              </a:rPr>
              <a:t>⚡ Blocage automatique si le contrat n'est pas encore validé par le bailleur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Modèle Économique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FF"/>
                </a:solidFill>
              </a:rPr>
              <a:t>Commission automatique sur chaque transaction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029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</a:rPr>
              <a:t>💰 Comment ça marche 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49377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Loyer mensuel (brut)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286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F2A44"/>
                </a:solidFill>
              </a:rPr>
              <a:t>200 000 FCFA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17520"/>
            <a:ext cx="49377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63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Commission KerConnect (5%)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05C52"/>
                </a:solidFill>
              </a:rPr>
              <a:t>−10 000 FCFA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4937760" cy="685800"/>
          </a:xfrm>
          <a:prstGeom prst="rect">
            <a:avLst/>
          </a:prstGeom>
          <a:solidFill>
            <a:srgbClr val="F0F4FF"/>
          </a:solidFill>
          <a:ln w="19050">
            <a:solidFill>
              <a:srgbClr val="DD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Net bailleur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8404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</a:rPr>
              <a:t>190 000 FCFA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463040"/>
            <a:ext cx="59436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15544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📈 Projections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10 logements × 200K FCFA/mois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→  100 000 FCFA/mois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971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50 logements × 200K FCFA/mois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2918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→  500 000 FCFA/mois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03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100 logements × 200K FCFA/mois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→  1 000 000 FCFA/mois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Taux configurable : 1% à 50%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Admin peut ajuster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Commission désactivable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Par simple toggle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760720"/>
            <a:ext cx="11430000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338CA"/>
                </a:solidFill>
              </a:rPr>
              <a:t>Revenus supplémentaires prévus : abonnements premium, annonces sponsorisées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Fonctionnalités Innovantes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FF"/>
                </a:solidFill>
              </a:rPr>
              <a:t>Ce qui différencie KerConnect de la concurrence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10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6692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640080" cy="1371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73736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4904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38CA"/>
                </a:solidFill>
              </a:rPr>
              <a:t>Score de Confiance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92024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Notes 1-5 étoiles après chaque contrat finalisé.
Badge 'Bailleur Vérifié' attribué par l'admin.
Note moyenne visible sur chaque annonce.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71800"/>
            <a:ext cx="56692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971800"/>
            <a:ext cx="640080" cy="137160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29184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449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52"/>
                </a:solidFill>
              </a:rPr>
              <a:t>Alertes Biens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747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Client s'abonne à des critères (ville, budget, type).
Dès qu'un bien correspond → notification automatique.
Gestion depuis /client/alertes.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56692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526280"/>
            <a:ext cx="64008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84632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994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Rapport Mensuel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292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Bailleur génère son rapport en 1 clic.
Total brut, commission, net reçu par mois.
Exportable en PDF imprimable.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417320"/>
            <a:ext cx="56692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417320"/>
            <a:ext cx="64008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73736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4904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Messagerie Intégrée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192024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Messages bailleur ↔ client depuis la plateforme.
Envoyés par email avec reply-to configuré.
Historique des échanges par demande.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971800"/>
            <a:ext cx="56692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971800"/>
            <a:ext cx="640080" cy="137160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29184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0449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52"/>
                </a:solidFill>
              </a:rPr>
              <a:t>Contrat PDF Numérique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747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Bailleur uploade son modèle PDF.
Client télécharge, signe manuscritement, renvoie.
Bailleur valide avant d'autoriser le paiement.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526280"/>
            <a:ext cx="56692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526280"/>
            <a:ext cx="64008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84632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5994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Commission Automatique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0292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Configurable par l'admin (défaut 5%).
Calculée sur chaque paiement confirmé.
Tableau de bord des revenus plateforme.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11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303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303520" cy="5486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⚛️ 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• Next.js 16.2.9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Turbopack, App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69463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• React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569463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Interface utilisateur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358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• TypeScript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0358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Typage statique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02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• Tailwind CSS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5021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Design système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6849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• Zustand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96849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State (auth + cookies)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34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• TanStack Query v5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434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Cache requêtes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01183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• proxy.ts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901183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Middleware Next.js 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463040"/>
            <a:ext cx="58521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1463040"/>
            <a:ext cx="5852160" cy="54864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15087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🐘  Backend + BDD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5C52"/>
                </a:solidFill>
              </a:rPr>
              <a:t>• Laravel 13.8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Framework PHP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569463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5C52"/>
                </a:solidFill>
              </a:rPr>
              <a:t>• PHP 8.3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569463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Runtime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0358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5C52"/>
                </a:solidFill>
              </a:rPr>
              <a:t>• Sanctum 4.3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0358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Tokens Bearer 7j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502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5C52"/>
                </a:solidFill>
              </a:rPr>
              <a:t>• MySQL 8.0+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502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Base de données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9684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5C52"/>
                </a:solidFill>
              </a:rPr>
              <a:t>• Laravel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9684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Fichiers PDF/IMG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434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5C52"/>
                </a:solidFill>
              </a:rPr>
              <a:t>• Gmail SMTP TLS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434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Emails OTP/notifs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901183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5C52"/>
                </a:solidFill>
              </a:rPr>
              <a:t>• DomPDF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901183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Génération reçus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2926080"/>
            <a:ext cx="914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338CA"/>
                </a:solidFill>
              </a:rPr>
              <a:t>⟷
HTTP/JSON
Bearer Token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Base de Données — 10 Tables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12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2240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2240280" cy="5029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3619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57400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</a:rPr>
              <a:t>id, name, email, role,
note_moyenne, verifie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33472" y="1463040"/>
            <a:ext cx="2240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33472" y="1463040"/>
            <a:ext cx="2240280" cy="5029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153619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biens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057400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</a:rPr>
              <a:t>id, user_id, titre, nature,
statut, images(JSON)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1463040"/>
            <a:ext cx="2240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92624" y="1463040"/>
            <a:ext cx="2240280" cy="5029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153619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demandes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057400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</a:rPr>
              <a:t>id, bien_id, demandeur_id,
statut, prenom_nom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1776" y="1463040"/>
            <a:ext cx="2240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51776" y="1463040"/>
            <a:ext cx="2240280" cy="50292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153619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2057400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</a:rPr>
              <a:t>id, fichier_contrat,
fichier_signe_client, statut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0928" y="1463040"/>
            <a:ext cx="2240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10928" y="1463040"/>
            <a:ext cx="2240280" cy="50292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153619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paiements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057400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</a:rPr>
              <a:t>id, montant, commission,
montant_net,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31920"/>
            <a:ext cx="2240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931920"/>
            <a:ext cx="2240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00507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526280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</a:rPr>
              <a:t>id, contrat_id, note 1-5,
auteur_id, cible_id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33472" y="3931920"/>
            <a:ext cx="2240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33472" y="3931920"/>
            <a:ext cx="2240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33472" y="400507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alertes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4912" y="4526280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</a:rPr>
              <a:t>id, user_id, ville,
nature, prix_max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92624" y="3931920"/>
            <a:ext cx="2240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92624" y="3931920"/>
            <a:ext cx="2240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92624" y="400507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settings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4064" y="4526280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</a:rPr>
              <a:t>cle, valeur (commission_taux,
commission_active)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51776" y="3931920"/>
            <a:ext cx="2240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51776" y="3931920"/>
            <a:ext cx="22402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51776" y="400507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favoris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3216" y="4526280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</a:rPr>
              <a:t>user_id, bien_id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10928" y="3931920"/>
            <a:ext cx="2240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10928" y="3931920"/>
            <a:ext cx="22402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10928" y="400507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otps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02368" y="4526280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</a:rPr>
              <a:t>email, code, expires_at,
used, 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Sécurité et Fiabilité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13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544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A44"/>
                </a:solidFill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48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Tokens Sanctum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Bearer Token TTL 7 jours
Révocation à la déconnexion
Intercepteur 401 auto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463040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5544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A44"/>
                </a:solidFill>
              </a:rPr>
              <a:t>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148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OTP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560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Code 4 chiffres par email
Expiration 15 minutes
3 tentatives max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5544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A44"/>
                </a:solidFill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48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C52"/>
                </a:solidFill>
              </a:rPr>
              <a:t>Middleware 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60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role:client / bailleur / admin
Protection toutes routes
Proxy.ts cookies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4047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A44"/>
                </a:solidFill>
              </a:rPr>
              <a:t>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</a:rPr>
              <a:t>Rate Limiting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46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5 tentatives login
Blocage 60 secondes
3 tentatives OTP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749039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384047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A44"/>
                </a:solidFill>
              </a:rPr>
              <a:t>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434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Uploads Sécurisés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46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Validation MIME stricte
Max 20 Mo configuré
Stockage privé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749039"/>
            <a:ext cx="35661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384047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A44"/>
                </a:solidFill>
              </a:rPr>
              <a:t>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434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5C52"/>
                </a:solidFill>
              </a:rPr>
              <a:t>Paiement Bloqué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846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A44"/>
                </a:solidFill>
              </a:rPr>
              <a:t>Contrat.statut = valide requis
Vérification backend strict
Double protection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Roadmap — Phases de Développement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14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7432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2743200" cy="8229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444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Actuel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✅ Inscription + OTP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✅ Catalogue biens vérifiés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✅ Demandes + messagerie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✅ Contrats PDF numériques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✅ Paiements multi-mode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92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✅ Commission automatique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✅ Score confiance + alertes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97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✅ Rapport mensuel bailleur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1417320"/>
            <a:ext cx="27432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1417320"/>
            <a:ext cx="27432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1444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Court terme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📍 Visite virtuelle 3D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📍 Comparateur de biens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📍 Google Maps dynamique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📍 Application mobile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📍 Cautions en escrow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892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📍 Abonnements premium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417320"/>
            <a:ext cx="27432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417320"/>
            <a:ext cx="2743200" cy="82296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444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Moyen terme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🔮 IA recommandation biens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🔮 PayDunya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🔮 Partenariats bancaires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🔮 Syndication agences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1417320"/>
            <a:ext cx="27432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52560" y="1417320"/>
            <a:ext cx="274320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1444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Long terme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🌍 Côte d'Ivoire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🌍 Mali / Sénégal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🌍 Cameroun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</a:rPr>
              <a:t>🌍 Expansion régionale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Pourquoi KerConnect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FF"/>
                </a:solidFill>
              </a:rPr>
              <a:t>Les avantages compétitifs clés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15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114300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F2A44"/>
                </a:solidFill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Spécialisé Sénégal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0574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Conçu pour le marché local : FCFA, Wave, Orange Money, villes sénégalaises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F2A44"/>
                </a:solidFill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Sécurisé de bout en bout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290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De la demande à la validation du contrat PDF signé, tout est tracé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F2A44"/>
                </a:solidFill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Rapide à déployer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8006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Stack moderne (Next.js 16 + Laravel 13), prêt pour la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F2A44"/>
                </a:solidFill>
              </a:rP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Modèle économique solide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0574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Commission automatique dès le 1er paiement, sans intervention manuelle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F2A44"/>
                </a:solidFill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Scalable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290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Architecture API REST, peut gérer des milliers d'annonces et de paiements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572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F2A44"/>
                </a:solidFill>
              </a:rPr>
              <a:t>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Confiance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8006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</a:rPr>
              <a:t>Score de confiance, badge Vérifié, contrats officiels — pas de faux annonces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Chiffres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3474720" cy="21945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Profils utilisateurs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63040"/>
            <a:ext cx="3474720" cy="219456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6459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Tables de données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463040"/>
            <a:ext cx="3474720" cy="21945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6459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40+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Endpoints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3474720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Commission défaut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931920"/>
            <a:ext cx="3474720" cy="219456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41148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7j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303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Durée 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931920"/>
            <a:ext cx="3474720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41148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30s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303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Polling notifs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Contact et Informations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FF"/>
                </a:solidFill>
              </a:rPr>
              <a:t>Prêt pour une démonstration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0" y="228600"/>
            <a:ext cx="640080" cy="640080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KC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KerConnect  —  Naratechvision  —  contact@naratechvision.com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17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73152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002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38CA"/>
                </a:solidFill>
              </a:rPr>
              <a:t>📍 Naratechvision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52"/>
                </a:solidFill>
              </a:rPr>
              <a:t>✉️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77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contact@naratechvision.com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52"/>
                </a:solidFill>
              </a:rPr>
              <a:t>🌐 Plateforme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063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http://localhost:3000 (dev)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52"/>
                </a:solidFill>
              </a:rPr>
              <a:t>👤 Admin démo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4903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demehawoly@gmail.com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52"/>
                </a:solidFill>
              </a:rPr>
              <a:t>🔑 Mot de passe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4348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KerConnect2026!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52"/>
                </a:solidFill>
              </a:rPr>
              <a:t>📄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1206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</a:rPr>
              <a:t>kerconnect_documentation.pdf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463040"/>
            <a:ext cx="3657600" cy="4572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291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Demander
une démo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389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contact@naratechvision.com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59352" cy="73152"/>
          </a:xfrm>
          <a:prstGeom prst="rect">
            <a:avLst/>
          </a:prstGeom>
          <a:solidFill>
            <a:srgbClr val="E0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Merci de votre attention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FF"/>
                </a:solidFill>
              </a:rPr>
              <a:t>KerConnect — Plateforme Immobilière Sénégalaise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BBFF"/>
                </a:solidFill>
              </a:rPr>
              <a:t>Naratechvision  •  contact@naratechvision.com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99CC"/>
                </a:solidFill>
              </a:rPr>
              <a:t>Version 2.0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